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FF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FF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在线考试系统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CE5FF"/>
                </a:solidFill>
                <a:latin typeface="微软雅黑"/>
              </a:defRPr>
            </a:pPr>
            <a:r>
              <a:t>项目答辩汇报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微软雅黑"/>
              </a:defRPr>
            </a:pPr>
            <a:r>
              <a:t>基于 Spring Boot + Vue 3 的多角色在线考试平台</a:t>
            </a:r>
          </a:p>
          <a:p>
            <a:pPr algn="ctr">
              <a:defRPr sz="1600">
                <a:solidFill>
                  <a:srgbClr val="CCE5FF"/>
                </a:solidFill>
                <a:latin typeface="微软雅黑"/>
              </a:defRPr>
            </a:pPr>
            <a:r>
              <a:t>2026年5月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汇报目录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97280" cy="109728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544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项目简介与背景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微软雅黑"/>
              </a:defRPr>
            </a:pPr>
            <a:r>
              <a:t>Project Introduction &amp; 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1097280" cy="109728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技术架构与开发过程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微软雅黑"/>
              </a:defRPr>
            </a:pPr>
            <a:r>
              <a:t>Technical Architecture &amp;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0" cy="109728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9319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核心功能展示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480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微软雅黑"/>
              </a:defRPr>
            </a:pPr>
            <a:r>
              <a:t>Core Functionality Demonstration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1097280" cy="109728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9319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项目亮点与难点攻克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80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微软雅黑"/>
              </a:defRPr>
            </a:pPr>
            <a:r>
              <a:t>Highlights &amp; Challenges Overcome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217920"/>
            <a:ext cx="1097280" cy="109728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63093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测试与部署情况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8580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微软雅黑"/>
              </a:defRPr>
            </a:pPr>
            <a:r>
              <a:t>Testing &amp;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6217920"/>
            <a:ext cx="1097280" cy="109728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3093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8580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微软雅黑"/>
              </a:defRPr>
            </a:pPr>
            <a:r>
              <a:t>Summary &amp; Future 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01  项目简介与背景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项目背景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03520" cy="2011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传统纸质考试模式存在组织成本高、阅卷效率低、成绩统计繁琐等问题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在线教育快速发展，对高效、公平的考试评估工具需求日益增长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现有在线考试系统在防作弊、题型支持、用户体验等方面仍有不足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本项目旨在构建一套功能完善、安全可靠的多角色在线考试平台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项目目标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5303520" cy="2011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实现管理员、教师、学生三角色分离的权限管理体系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支持单选、多选、判断、填空、简答、编程六种题型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提供题库管理、智能组卷、在线考试、自动评分全流程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• 构建防作弊机制，保障考试的公平性和严肃性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项目名称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微软雅黑"/>
              </a:defRPr>
            </a:pPr>
            <a:r>
              <a:t>在线考试系统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开发周期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微软雅黑"/>
              </a:defRPr>
            </a:pPr>
            <a:r>
              <a:t>数月（需求→设计→编码→测试→文档）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系统架构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108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微软雅黑"/>
              </a:defRPr>
            </a:pPr>
            <a:r>
              <a:t>前后端分离，多模块独立部署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用户角色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86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微软雅黑"/>
              </a:defRPr>
            </a:pPr>
            <a:r>
              <a:t>管理员、教师、学生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核心功能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634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微软雅黑"/>
              </a:defRPr>
            </a:pPr>
            <a:r>
              <a:t>题库/试卷/考试/答题/评分/统计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440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部署方式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4406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微软雅黑"/>
              </a:defRPr>
            </a:pPr>
            <a:r>
              <a:t>支持开发环境 &amp; 生产环境部署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02  技术架构与开发过程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后端技术栈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219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Spring Boot 3.5.14 + Java 17 — 核心框架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MyBatis 3.0.4 + MySQL 8.0 — 数据持久层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Redis 7.2.3 — 缓存与答题状态存储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JWT (jjwt 0.12.6) — 无状态身份认证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PageHelper — 分页查询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Apache POI — Excel/Word 批量导入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前端技术栈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5486400" cy="219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Vue 3 + Vite — 前端框架与构建工具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Element Plus — UI 组件库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Pinia — 状态管理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ECharts — 数据可视化图表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SCSS — 样式预处理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• Axios — HTTP 请求库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5F7A"/>
                </a:solidFill>
                <a:latin typeface="微软雅黑"/>
              </a:defRPr>
            </a:pPr>
            <a:r>
              <a:t>系统架构概览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920240"/>
            <a:ext cx="4572000" cy="822960"/>
          </a:xfrm>
          <a:prstGeom prst="round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前端层</a:t>
            </a:r>
          </a:p>
          <a:p>
            <a:pPr algn="ctr">
              <a:defRPr sz="1200">
                <a:solidFill>
                  <a:srgbClr val="E0F0FF"/>
                </a:solidFill>
                <a:latin typeface="微软雅黑"/>
              </a:defRPr>
            </a:pPr>
            <a:r>
              <a:t>管理端(5173) | 教师端(3001) | 学生端(3000)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971800"/>
            <a:ext cx="4572000" cy="82296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网关层</a:t>
            </a:r>
          </a:p>
          <a:p>
            <a:pPr algn="ctr">
              <a:defRPr sz="1200">
                <a:solidFill>
                  <a:srgbClr val="E0F0FF"/>
                </a:solidFill>
                <a:latin typeface="微软雅黑"/>
              </a:defRPr>
            </a:pPr>
            <a:r>
              <a:t>Nginx 反向代理 / Vite DevServer Proxy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023360"/>
            <a:ext cx="4572000" cy="822960"/>
          </a:xfrm>
          <a:prstGeom prst="round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业务层</a:t>
            </a:r>
          </a:p>
          <a:p>
            <a:pPr algn="ctr">
              <a:defRPr sz="1200">
                <a:solidFill>
                  <a:srgbClr val="E0F0FF"/>
                </a:solidFill>
                <a:latin typeface="微软雅黑"/>
              </a:defRPr>
            </a:pPr>
            <a:r>
              <a:t>Admin(8080) | Teacher(8081) | Student(8082)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5074920"/>
            <a:ext cx="4572000" cy="82296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166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  <a:p>
            <a:pPr algn="ctr">
              <a:defRPr sz="1200">
                <a:solidFill>
                  <a:srgbClr val="E0F0FF"/>
                </a:solidFill>
                <a:latin typeface="微软雅黑"/>
              </a:defRPr>
            </a:pPr>
            <a:r>
              <a:t>MySQL 8.0 + Redis 7.2.3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02  技术架构与开发过程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项目开发阶段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1031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920240"/>
            <a:ext cx="731520" cy="73152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调研现有系统不足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明确三角色功能需求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确定技术选型方向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输出需求规格说明书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  <a:latin typeface="微软雅黑"/>
              </a:defRPr>
            </a:pPr>
            <a:r>
              <a:t>周期：1周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737360"/>
            <a:ext cx="21031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920240"/>
            <a:ext cx="731520" cy="73152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057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743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系统设计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总体架构设计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数据库ER图设计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API接口设计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关键模块详细设计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303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  <a:latin typeface="微软雅黑"/>
              </a:defRPr>
            </a:pPr>
            <a:r>
              <a:t>周期：1周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737360"/>
            <a:ext cx="21031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0" y="1920240"/>
            <a:ext cx="731520" cy="73152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057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43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编码实现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后端核心接口开发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前端页面开发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数据库脚本编写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前后端联调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03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  <a:latin typeface="微软雅黑"/>
              </a:defRPr>
            </a:pPr>
            <a:r>
              <a:t>周期：3周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737360"/>
            <a:ext cx="21031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1000" y="1920240"/>
            <a:ext cx="731520" cy="73152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057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743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测试验证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功能测试（45个用例）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性能测试（JMeter）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缺陷修复（23个）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回归测试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303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  <a:latin typeface="微软雅黑"/>
              </a:defRPr>
            </a:pPr>
            <a:r>
              <a:t>周期：1周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737360"/>
            <a:ext cx="21031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87000" y="1920240"/>
            <a:ext cx="731520" cy="73152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057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743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文档编写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用户手册编写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部署说明编写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项目总结报告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答辩PPT制作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303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  <a:latin typeface="微软雅黑"/>
              </a:defRPr>
            </a:pPr>
            <a:r>
              <a:t>周期：1周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560320" y="347472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4846320" y="347472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7132320" y="347472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9418320" y="347472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03  核心功能展示 — 管理员端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用户管理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学生/教师账户的增删改查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批量导入导出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密码重置与状态管理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554480"/>
            <a:ext cx="548640" cy="54864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6002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组织架构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院系、班级、科目管理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层级关系维护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数据关联校验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002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考试监控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全局考试状态查看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强制结束异常考试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参与人数统计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1605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数据看板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ECharts 统计图表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用户数量趋势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考试参与分析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31920"/>
            <a:ext cx="356616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4114800"/>
            <a:ext cx="548640" cy="54864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1605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系统日志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548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AOP 切面记录操作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按类型筛选查询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操作审计追溯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03  核心功能展示 — 教师端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7160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F7A"/>
                </a:solidFill>
                <a:latin typeface="微软雅黑"/>
              </a:defRPr>
            </a:pPr>
            <a:r>
              <a:t>题库管理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六种题型支持（单选/多选/判断/填空/简答/编程）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Excel/Word 批量导入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科目分类与难度筛选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137160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F7A"/>
                </a:solidFill>
                <a:latin typeface="微软雅黑"/>
              </a:defRPr>
            </a:pPr>
            <a:r>
              <a:t>试卷管理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自由组卷模式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题目关联与移除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试卷预览与分值校验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37160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F7A"/>
                </a:solidFill>
                <a:latin typeface="微软雅黑"/>
              </a:defRPr>
            </a:pPr>
            <a:r>
              <a:t>考试管理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考试时间窗口控制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状态流转（未发布→已发布→进行中→已结束）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切屏次数限制设置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79"/>
            <a:ext cx="137160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577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F7A"/>
                </a:solidFill>
                <a:latin typeface="微软雅黑"/>
              </a:defRPr>
            </a:pPr>
            <a:r>
              <a:t>成绩管理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5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考试记录查询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主观题人工批改</a:t>
            </a:r>
          </a:p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成绩统计与导出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03  核心功能展示 — 学生端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在线考试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六种题型渲染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答题卡导航（已答/未答/当前题）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倒计时提醒与自动交卷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3949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002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答案保存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每30秒自动保存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MySQL + Redis 双写策略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断网恢复与答案回填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53949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023359"/>
            <a:ext cx="457200" cy="457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防作弊监控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199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屏幕切换实时检测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切屏次数自动累加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超限自动提交试卷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49039"/>
            <a:ext cx="53949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023359"/>
            <a:ext cx="457200" cy="457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97763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成绩分析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1999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个人成绩趋势图（ECharts）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科目成绩分布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知识点掌握雷达图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26480"/>
            <a:ext cx="53949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6400800"/>
            <a:ext cx="457200" cy="457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  <a:latin typeface="微软雅黑"/>
              </a:defRPr>
            </a:pPr>
            <a:r>
              <a:t>错题本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949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自动收集错题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错误次数统计</a:t>
            </a:r>
          </a:p>
          <a:p>
            <a:pPr>
              <a:defRPr sz="1300">
                <a:solidFill>
                  <a:srgbClr val="666666"/>
                </a:solidFill>
                <a:latin typeface="微软雅黑"/>
              </a:defRPr>
            </a:pPr>
            <a:r>
              <a:t>按科目筛选复习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03  核心功能展示 — 考试流程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在线考试完整流程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36576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教师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16459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创建试卷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从题库选题组卷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设置分值与顺序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48840" y="274320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1737360"/>
            <a:ext cx="1645920" cy="36576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737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教师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194560"/>
            <a:ext cx="16459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发布考试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设定时间窗口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选择参与班级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配置切屏限制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274320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1737360"/>
            <a:ext cx="1645920" cy="365760"/>
          </a:xfrm>
          <a:prstGeom prst="round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737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194560"/>
            <a:ext cx="16459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进入考试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校验时间窗口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检查重复参加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加载试卷题目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97880" y="274320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0759" y="1737360"/>
            <a:ext cx="1645920" cy="365760"/>
          </a:xfrm>
          <a:prstGeom prst="round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59" y="1737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59" y="2194560"/>
            <a:ext cx="16459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答题过程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199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六种题型作答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答题卡导航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30秒自动保存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72399" y="274320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55279" y="1737360"/>
            <a:ext cx="164592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1737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系统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2194560"/>
            <a:ext cx="16459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自动评分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客观题即时判分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主观题标记待批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记录错题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646919" y="2743200"/>
            <a:ext cx="182880" cy="274320"/>
          </a:xfrm>
          <a:prstGeom prst="rightArrow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29800" y="1737360"/>
            <a:ext cx="1645920" cy="36576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1737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教师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2194560"/>
            <a:ext cx="164592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成绩管理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查看考试记录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批改主观题</a:t>
            </a:r>
          </a:p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导出成绩报表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114800"/>
            <a:ext cx="11155680" cy="2286000"/>
          </a:xfrm>
          <a:prstGeom prst="roundRect">
            <a:avLst/>
          </a:prstGeom>
          <a:solidFill>
            <a:srgbClr val="FFF8F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35"/>
                </a:solidFill>
                <a:latin typeface="微软雅黑"/>
              </a:defRPr>
            </a:pPr>
            <a:r>
              <a:t>流程特点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663440"/>
            <a:ext cx="1051560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状态驱动：考试状态严格流转（未发布 → 已发布 → 进行中 → 已结束），防止非法操作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双写保障：答案同时写入 MySQL 和 Redis，确保数据不丢失，支持断网恢复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自动评分：单选/判断直接比对，多选排序后比对，填空/简答/编程标记为待批改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防作弊机制：切屏检测 + 自动交卷 + IP 记录，多层保障考试公平性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04  项目亮点与难点攻克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六大核心亮点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5661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多模块分离架构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三端独立部署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降低耦合度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便于扩展维护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661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9202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统一登录 +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单点登录入口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无状态认证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角色自动路由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5661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9202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920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六种题型支持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题型全面覆盖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批量导入高效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自由组卷灵活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35661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976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MySQL+Redis双写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数据持久可靠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缓存高速访问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异常不影响主流程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114800"/>
            <a:ext cx="35661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2976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多维数据可视化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463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ECharts图表丰富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成绩趋势直观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知识点雷达分析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14800"/>
            <a:ext cx="356616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2976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2976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微软雅黑"/>
              </a:defRPr>
            </a:pPr>
            <a:r>
              <a:t>AOP操作审计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463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切面记录日志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全站操作可追溯</a:t>
            </a:r>
          </a:p>
          <a:p>
            <a:pPr>
              <a:defRPr sz="1200">
                <a:solidFill>
                  <a:srgbClr val="666666"/>
                </a:solidFill>
                <a:latin typeface="微软雅黑"/>
              </a:defRPr>
            </a:pPr>
            <a:r>
              <a:t>安全审计完善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04  项目亮点与难点攻克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关键技术难点与解决方案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0972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跨域与统一认证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373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4444"/>
                </a:solidFill>
                <a:latin typeface="微软雅黑"/>
              </a:defRPr>
            </a:pPr>
            <a:r>
              <a:t>问题：问题：三端前端访问不同后端端口，浏览器拦截跨域请求；三角色共用登录入口需区分路由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7744"/>
                </a:solidFill>
                <a:latin typeface="微软雅黑"/>
              </a:defRPr>
            </a:pPr>
            <a:r>
              <a:t>方案：方案：Vite proxy 开发环境代理 + Nginx 生产环境反向代理；JWT Token 含 userType 字段，前端 Pinia 存储角色状态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0972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高并发死锁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97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4444"/>
                </a:solidFill>
                <a:latin typeface="微软雅黑"/>
              </a:defRPr>
            </a:pPr>
            <a:r>
              <a:t>问题：问题：200并发提交试卷时，update 顺序不一致导致数据库死锁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7744"/>
                </a:solidFill>
                <a:latin typeface="微软雅黑"/>
              </a:defRPr>
            </a:pPr>
            <a:r>
              <a:t>方案：方案：统一事务执行顺序（先 exam_record 后 answer_record）；添加数据库索引优化锁粒度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0972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答案实时保存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6576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4444"/>
                </a:solidFill>
                <a:latin typeface="微软雅黑"/>
              </a:defRPr>
            </a:pPr>
            <a:r>
              <a:t>问题：问题：考试过程中网络中断或浏览器崩溃导致答题数据丢失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977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7744"/>
                </a:solidFill>
                <a:latin typeface="微软雅黑"/>
              </a:defRPr>
            </a:pPr>
            <a:r>
              <a:t>方案：方案：MySQL + Redis 双写策略；前端 30 秒自动保存；Redis 异常时仅记录日志不影响主流程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10972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批量导入兼容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6177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4444"/>
                </a:solidFill>
                <a:latin typeface="微软雅黑"/>
              </a:defRPr>
            </a:pPr>
            <a:r>
              <a:t>问题：问题：Excel/Word 格式多样，特殊字符导致解析失败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7744"/>
                </a:solidFill>
                <a:latin typeface="微软雅黑"/>
              </a:defRPr>
            </a:pPr>
            <a:r>
              <a:t>方案：方案：Apache POI 解析；标准导入模板；字符过滤与转义；预览确认后正式导入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10972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切屏检测兼容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5778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4444"/>
                </a:solidFill>
                <a:latin typeface="微软雅黑"/>
              </a:defRPr>
            </a:pPr>
            <a:r>
              <a:t>问题：问题：不同浏览器对 visibilitychange 事件支持不一致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897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7744"/>
                </a:solidFill>
                <a:latin typeface="微软雅黑"/>
              </a:defRPr>
            </a:pPr>
            <a:r>
              <a:t>方案：方案：同时监听 visibilitychange 和 blur 事件；服务端接口双重校验；防抖逻辑避免误触发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05  测试与部署情况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功能测试结果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测试模块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用例数量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通过数量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通过率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管理员功能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教师功能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学生功能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性能测试结果（JMeter）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• 并发登录：200并发，平均响应 280ms，吞吐量 145.8 TPS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• 开始考试：200并发，平均响应 380ms，吞吐量 128.6 TPS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• 保存答案：200并发，平均响应 210ms，吞吐量 198.2 TPS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微软雅黑"/>
              </a:defRPr>
            </a:pPr>
            <a:r>
              <a:t>• 提交试卷：200并发，平均响应 520ms，吞吐量 102.5 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5F7A"/>
                </a:solidFill>
                <a:latin typeface="微软雅黑"/>
              </a:defRPr>
            </a:pPr>
            <a:r>
              <a:t>缺陷统计与修复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914400" cy="36576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致命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11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1个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11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微软雅黑"/>
              </a:defRPr>
            </a:pPr>
            <a:r>
              <a:t>并发提交死锁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8844"/>
                </a:solidFill>
                <a:latin typeface="微软雅黑"/>
              </a:defRPr>
            </a:pPr>
            <a:r>
              <a:t>修复率：100%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017520"/>
            <a:ext cx="914400" cy="36576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严重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017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4个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017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微软雅黑"/>
              </a:defRPr>
            </a:pPr>
            <a:r>
              <a:t>切屏计数/Word解析/倒计时/总分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8844"/>
                </a:solidFill>
                <a:latin typeface="微软雅黑"/>
              </a:defRPr>
            </a:pPr>
            <a:r>
              <a:t>修复率：100%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023360"/>
            <a:ext cx="914400" cy="36576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一般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023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12个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23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微软雅黑"/>
              </a:defRPr>
            </a:pPr>
            <a:r>
              <a:t>导出乱码/Redis异常/图表显示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3434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8844"/>
                </a:solidFill>
                <a:latin typeface="微软雅黑"/>
              </a:defRPr>
            </a:pPr>
            <a:r>
              <a:t>修复率：100%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029200"/>
            <a:ext cx="914400" cy="365760"/>
          </a:xfrm>
          <a:prstGeom prst="roundRect">
            <a:avLst/>
          </a:prstGeom>
          <a:solidFill>
            <a:srgbClr val="66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029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轻微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029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  <a:latin typeface="微软雅黑"/>
              </a:defRPr>
            </a:pPr>
            <a:r>
              <a:t>6个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029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微软雅黑"/>
              </a:defRPr>
            </a:pPr>
            <a:r>
              <a:t>界面优化/提示信息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349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8844"/>
                </a:solidFill>
                <a:latin typeface="微软雅黑"/>
              </a:defRPr>
            </a:pPr>
            <a:r>
              <a:t>修复率：100%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05  测试与部署情况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部署环境要求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JDK 17（OpenJDK 17.0.8）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MySQL 8.0（8.0.35）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Redis 7.2.3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Maven 3.9.5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Node.js 20.10.0 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5303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服务端口配置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530352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管理端前端：5173  →  后端：8080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教师端前端：3001  →  后端：8081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学生端前端：3000  →  后端：8082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5F7A"/>
                </a:solidFill>
                <a:latin typeface="微软雅黑"/>
              </a:defRPr>
            </a:pPr>
            <a:r>
              <a:t>部署启动顺序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1. 启动 MySQL 数据库服务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2. 启动 Redis 缓存服务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3. 启动管理端后端（8080）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4. 启动教师端后端（8081）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5. 启动学生端后端（8082）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262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6. 启动管理端前端（5173）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29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7. 启动教师端前端（3001）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532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8. 启动学生端前端（3000）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06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项目总结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完成了基于 Spring Boot + Vue 3 的在线考试系统开发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覆盖管理员、教师、学生三角色的完整业务闭环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实现了题库管理、试卷组卷、在线考试、自动评分、成绩统计等核心功能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采用多模块分离架构，支持独立开发、测试和部署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通过 JWT 实现统一认证，保障系统安全性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MySQL + Redis 双写策略确保答题数据可靠不丢失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45个功能测试用例全部通过，200并发性能测试达标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微软雅黑"/>
              </a:defRPr>
            </a:pPr>
            <a:r>
              <a:t>• 23个缺陷全部修复，系统稳定可靠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8016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5F7A"/>
                </a:solidFill>
                <a:latin typeface="微软雅黑"/>
              </a:defRPr>
            </a:pPr>
            <a:r>
              <a:t>项目成果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代码量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3个后端 + 3个前端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共数万行代码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10312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数据表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13张核心表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完整外键关联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2976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文档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7份技术文档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需求/设计/测试/部署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11480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42976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5F7A"/>
                </a:solidFill>
                <a:latin typeface="微软雅黑"/>
              </a:defRPr>
            </a:pPr>
            <a:r>
              <a:t>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45个用例</a:t>
            </a:r>
          </a:p>
          <a:p>
            <a:pPr algn="ctr">
              <a:defRPr sz="1200">
                <a:solidFill>
                  <a:srgbClr val="666666"/>
                </a:solidFill>
                <a:latin typeface="微软雅黑"/>
              </a:defRPr>
            </a:pPr>
            <a:r>
              <a:t>200并发压测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06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后续改进计划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566160" cy="54864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短期（1-2月）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3566160" cy="3474720"/>
          </a:xfrm>
          <a:prstGeom prst="roundRect">
            <a:avLst/>
          </a:prstGeom>
          <a:solidFill>
            <a:srgbClr val="F5F7FA"/>
          </a:solidFill>
          <a:ln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651760"/>
            <a:ext cx="137160" cy="13716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引入 RabbitMQ 异步评分机制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29000"/>
            <a:ext cx="137160" cy="13716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增加 Caffeine 本地缓存层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06240"/>
            <a:ext cx="137160" cy="13716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完善接口限流与安全加固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983480"/>
            <a:ext cx="137160" cy="13716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优化前端移动端适配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737360"/>
            <a:ext cx="3566160" cy="548640"/>
          </a:xfrm>
          <a:prstGeom prst="round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783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中期（3-6月）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377440"/>
            <a:ext cx="3566160" cy="3474720"/>
          </a:xfrm>
          <a:prstGeom prst="roundRect">
            <a:avLst/>
          </a:prstGeom>
          <a:solidFill>
            <a:srgbClr val="F5F7FA"/>
          </a:solidFill>
          <a:ln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0" y="2651760"/>
            <a:ext cx="137160" cy="13716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实现遗传算法智能组卷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3429000"/>
            <a:ext cx="137160" cy="13716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337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增强防作弊（人脸识别/随机抽题）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4206240"/>
            <a:ext cx="137160" cy="13716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4114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WebSocket 实时通信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4983480"/>
            <a:ext cx="137160" cy="13716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Prometheus + Grafana 监控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737360"/>
            <a:ext cx="356616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783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长期（6-12月）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377440"/>
            <a:ext cx="3566160" cy="3474720"/>
          </a:xfrm>
          <a:prstGeom prst="roundRect">
            <a:avLst/>
          </a:prstGeom>
          <a:solidFill>
            <a:srgbClr val="F5F7FA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0" y="2651760"/>
            <a:ext cx="137160" cy="137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AI 辅助评分（NLP）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0" y="3429000"/>
            <a:ext cx="137160" cy="137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3337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自适应学习推荐系统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4206240"/>
            <a:ext cx="137160" cy="137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114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多租户 SaaS 化改造</a:t>
            </a:r>
          </a:p>
        </p:txBody>
      </p:sp>
      <p:sp>
        <p:nvSpPr>
          <p:cNvPr id="37" name="Oval 36"/>
          <p:cNvSpPr/>
          <p:nvPr/>
        </p:nvSpPr>
        <p:spPr>
          <a:xfrm>
            <a:off x="8412480" y="4983480"/>
            <a:ext cx="137160" cy="137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微软雅黑"/>
              </a:defRPr>
            </a:pPr>
            <a:r>
              <a:t>小程序与 App 端开发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035040"/>
            <a:ext cx="11155680" cy="548640"/>
          </a:xfrm>
          <a:prstGeom prst="round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0807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感谢各位老师的指导与评审！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FFFF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FFFF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E5FF"/>
                </a:solidFill>
                <a:latin typeface="微软雅黑"/>
              </a:defRPr>
            </a:pPr>
            <a:r>
              <a:t>欢迎老师提问与指导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微软雅黑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